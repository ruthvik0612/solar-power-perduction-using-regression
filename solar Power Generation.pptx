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MkrZ1tFrh88ju/lw0Aby/5Fja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 amt="55000"/>
          </a:blip>
          <a:srcRect b="0" l="0" r="0" t="23986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3577192" y="1032483"/>
            <a:ext cx="5037616" cy="2982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US"/>
              <a:t>Solar Power</a:t>
            </a:r>
            <a:br>
              <a:rPr b="1" lang="en-US"/>
            </a:br>
            <a:r>
              <a:rPr b="1" lang="en-US"/>
              <a:t>Prediction</a:t>
            </a:r>
            <a:endParaRPr b="1"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3577192" y="4106918"/>
            <a:ext cx="503761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Using Regression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 flipH="1" rot="-1433260">
            <a:off x="2607299" y="8363"/>
            <a:ext cx="6816262" cy="6816262"/>
          </a:xfrm>
          <a:prstGeom prst="arc">
            <a:avLst>
              <a:gd fmla="val 16200000" name="adj1"/>
              <a:gd fmla="val 20401595" name="adj2"/>
            </a:avLst>
          </a:prstGeom>
          <a:noFill/>
          <a:ln cap="rnd" cmpd="sng" w="127000">
            <a:solidFill>
              <a:schemeClr val="accent4">
                <a:alpha val="94901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05" y="30095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305" y="-11219"/>
            <a:ext cx="5646974" cy="6483075"/>
            <a:chOff x="-19221" y="0"/>
            <a:chExt cx="5646974" cy="6483075"/>
          </a:xfrm>
        </p:grpSpPr>
        <p:sp>
          <p:nvSpPr>
            <p:cNvPr id="98" name="Google Shape;98;p2"/>
            <p:cNvSpPr/>
            <p:nvPr/>
          </p:nvSpPr>
          <p:spPr>
            <a:xfrm>
              <a:off x="-19220" y="116610"/>
              <a:ext cx="5535001" cy="6250127"/>
            </a:xfrm>
            <a:custGeom>
              <a:rect b="b" l="l" r="r" t="t"/>
              <a:pathLst>
                <a:path extrusionOk="0" h="6250127" w="5535001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-19221" y="176241"/>
              <a:ext cx="5646908" cy="6130481"/>
            </a:xfrm>
            <a:custGeom>
              <a:rect b="b" l="l" r="r" t="t"/>
              <a:pathLst>
                <a:path extrusionOk="0" h="6130481" w="5646908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-19221" y="176241"/>
              <a:ext cx="5517522" cy="6130481"/>
            </a:xfrm>
            <a:custGeom>
              <a:rect b="b" l="l" r="r" t="t"/>
              <a:pathLst>
                <a:path extrusionOk="0" h="6130481" w="5517522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19220" y="176241"/>
              <a:ext cx="5517475" cy="6130481"/>
            </a:xfrm>
            <a:custGeom>
              <a:rect b="b" l="l" r="r" t="t"/>
              <a:pathLst>
                <a:path extrusionOk="0" h="6130481" w="5517475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-19221" y="0"/>
              <a:ext cx="5646974" cy="6483075"/>
            </a:xfrm>
            <a:custGeom>
              <a:rect b="b" l="l" r="r" t="t"/>
              <a:pathLst>
                <a:path extrusionOk="0" h="6483075" w="5646974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/>
          <p:cNvSpPr txBox="1"/>
          <p:nvPr>
            <p:ph type="title"/>
          </p:nvPr>
        </p:nvSpPr>
        <p:spPr>
          <a:xfrm>
            <a:off x="804672" y="2023236"/>
            <a:ext cx="3659777" cy="2820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b="1" lang="en-US" sz="4000">
                <a:solidFill>
                  <a:schemeClr val="dk2"/>
                </a:solidFill>
              </a:rPr>
              <a:t>Project Developed By</a:t>
            </a:r>
            <a:endParaRPr sz="4000">
              <a:solidFill>
                <a:schemeClr val="dk2"/>
              </a:solidFill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6091238" y="1891012"/>
            <a:ext cx="5115491" cy="3077099"/>
            <a:chOff x="0" y="935359"/>
            <a:chExt cx="5115491" cy="3077099"/>
          </a:xfrm>
        </p:grpSpPr>
        <p:sp>
          <p:nvSpPr>
            <p:cNvPr id="105" name="Google Shape;105;p2"/>
            <p:cNvSpPr/>
            <p:nvPr/>
          </p:nvSpPr>
          <p:spPr>
            <a:xfrm>
              <a:off x="0" y="935359"/>
              <a:ext cx="5115491" cy="1444949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70537" y="1005896"/>
              <a:ext cx="4974417" cy="130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Priyanka Omprakash Yadav</a:t>
              </a:r>
              <a:endPara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0" y="2567509"/>
              <a:ext cx="5115491" cy="1444949"/>
            </a:xfrm>
            <a:prstGeom prst="roundRect">
              <a:avLst>
                <a:gd fmla="val 16667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70537" y="2638046"/>
              <a:ext cx="4974417" cy="130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Ruthvik Chowdary Sukhavasi</a:t>
              </a:r>
              <a:endPara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Play"/>
              <a:buNone/>
            </a:pPr>
            <a:r>
              <a:rPr lang="en-US" sz="7400"/>
              <a:t>Contents </a:t>
            </a:r>
            <a:br>
              <a:rPr lang="en-US" sz="7400"/>
            </a:br>
            <a:endParaRPr sz="7400"/>
          </a:p>
        </p:txBody>
      </p:sp>
      <p:cxnSp>
        <p:nvCxnSpPr>
          <p:cNvPr id="115" name="Google Shape;115;p3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116" name="Google Shape;116;p3"/>
          <p:cNvGrpSpPr/>
          <p:nvPr/>
        </p:nvGrpSpPr>
        <p:grpSpPr>
          <a:xfrm>
            <a:off x="5108535" y="1121058"/>
            <a:ext cx="6245265" cy="5488830"/>
            <a:chOff x="0" y="50258"/>
            <a:chExt cx="6245265" cy="5488830"/>
          </a:xfrm>
        </p:grpSpPr>
        <p:sp>
          <p:nvSpPr>
            <p:cNvPr id="117" name="Google Shape;117;p3"/>
            <p:cNvSpPr/>
            <p:nvPr/>
          </p:nvSpPr>
          <p:spPr>
            <a:xfrm>
              <a:off x="0" y="5025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34783" y="8504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Introduction &amp; Problem Statement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0" y="84630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E29C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34783" y="88109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Overview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0" y="164235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C8BE1E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34783" y="167714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EDA Insights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0" y="243840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8CAF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34783" y="247319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Building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323445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5597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34783" y="326924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Evaluation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403050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2C801B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34783" y="406529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Deployment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0" y="4826558"/>
              <a:ext cx="6245265" cy="712530"/>
            </a:xfrm>
            <a:prstGeom prst="roundRect">
              <a:avLst>
                <a:gd fmla="val 16667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34783" y="4861341"/>
              <a:ext cx="6175699" cy="642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1" i="0" lang="en-US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Play"/>
              <a:buNone/>
            </a:pPr>
            <a:r>
              <a:rPr b="1" lang="en-US" sz="4100">
                <a:solidFill>
                  <a:srgbClr val="FFFFFF"/>
                </a:solidFill>
              </a:rPr>
              <a:t> Introduction &amp; Problem Statement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/>
              <a:t>Introduction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Solar power output depends on weather conditions.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Accurate prediction helps in grid management and planning.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/>
              <a:t>Problem Statement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Build an ML model to predict </a:t>
            </a:r>
            <a:r>
              <a:rPr b="1" lang="en-US" sz="2600"/>
              <a:t>solar power generation</a:t>
            </a:r>
            <a:r>
              <a:rPr lang="en-US" sz="2600"/>
              <a:t> under </a:t>
            </a:r>
            <a:r>
              <a:rPr b="1" lang="en-US" sz="2600"/>
              <a:t>any weather</a:t>
            </a:r>
            <a:r>
              <a:rPr lang="en-US" sz="26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Use environmental factors like temperature, humidity, wind, and sky cover.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Aim: achieve </a:t>
            </a:r>
            <a:r>
              <a:rPr b="1" lang="en-US" sz="2600"/>
              <a:t>high accuracy</a:t>
            </a:r>
            <a:r>
              <a:rPr lang="en-US" sz="2600"/>
              <a:t> across all conditions.</a:t>
            </a:r>
            <a:endParaRPr/>
          </a:p>
          <a:p>
            <a:pPr indent="-63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0" y="0"/>
            <a:ext cx="12192000" cy="2877832"/>
          </a:xfrm>
          <a:custGeom>
            <a:rect b="b" l="l" r="r" t="t"/>
            <a:pathLst>
              <a:path extrusionOk="0" h="2877832" w="1219200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>
            <p:ph type="title"/>
          </p:nvPr>
        </p:nvSpPr>
        <p:spPr>
          <a:xfrm>
            <a:off x="630936" y="630936"/>
            <a:ext cx="35996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en-US" sz="3700">
                <a:solidFill>
                  <a:srgbClr val="FFFFFF"/>
                </a:solidFill>
              </a:rPr>
              <a:t>Data Overview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 rot="5400000">
            <a:off x="3566159" y="1353312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cap="rnd" cmpd="sng" w="41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4474462" y="630936"/>
            <a:ext cx="707440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•"/>
            </a:pPr>
            <a:r>
              <a:rPr lang="en-US" sz="1500">
                <a:solidFill>
                  <a:srgbClr val="FFFFFF"/>
                </a:solidFill>
              </a:rPr>
              <a:t>This project focuses on predicting </a:t>
            </a:r>
            <a:r>
              <a:rPr b="1" lang="en-US" sz="1500">
                <a:solidFill>
                  <a:srgbClr val="FFFFFF"/>
                </a:solidFill>
              </a:rPr>
              <a:t>solar energy production</a:t>
            </a:r>
            <a:r>
              <a:rPr lang="en-US" sz="1500">
                <a:solidFill>
                  <a:srgbClr val="FFFFFF"/>
                </a:solidFill>
              </a:rPr>
              <a:t> using </a:t>
            </a:r>
            <a:r>
              <a:rPr b="1" lang="en-US" sz="1500">
                <a:solidFill>
                  <a:srgbClr val="FFFFFF"/>
                </a:solidFill>
              </a:rPr>
              <a:t>environmental factors</a:t>
            </a:r>
            <a:r>
              <a:rPr lang="en-US" sz="1500">
                <a:solidFill>
                  <a:srgbClr val="FFFFFF"/>
                </a:solidFill>
              </a:rPr>
              <a:t> such as temperature, wind speed, humidity, and sky cover.</a:t>
            </a:r>
            <a:endParaRPr/>
          </a:p>
          <a:p>
            <a:pPr indent="-1333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Char char="•"/>
            </a:pPr>
            <a:r>
              <a:rPr lang="en-US" sz="1500">
                <a:solidFill>
                  <a:srgbClr val="FFFFFF"/>
                </a:solidFill>
              </a:rPr>
              <a:t>The dataset solarpowergeneration.csv contains </a:t>
            </a:r>
            <a:r>
              <a:rPr b="1" lang="en-US" sz="1500">
                <a:solidFill>
                  <a:srgbClr val="FFFFFF"/>
                </a:solidFill>
              </a:rPr>
              <a:t>2,920 records</a:t>
            </a:r>
            <a:r>
              <a:rPr lang="en-US" sz="1500">
                <a:solidFill>
                  <a:srgbClr val="FFFFFF"/>
                </a:solidFill>
              </a:rPr>
              <a:t> and </a:t>
            </a:r>
            <a:r>
              <a:rPr b="1" lang="en-US" sz="1500">
                <a:solidFill>
                  <a:srgbClr val="FFFFFF"/>
                </a:solidFill>
              </a:rPr>
              <a:t>10 variables</a:t>
            </a:r>
            <a:r>
              <a:rPr lang="en-US" sz="1500">
                <a:solidFill>
                  <a:srgbClr val="FFFFFF"/>
                </a:solidFill>
              </a:rPr>
              <a:t>, including:</a:t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descr="A screenshot of a computer&#10;&#10;AI-generated content may be incorrect.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3805846"/>
            <a:ext cx="10917936" cy="1610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EDA Insights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cap="rnd" cmpd="sng" w="44450">
            <a:solidFill>
              <a:schemeClr val="accent2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572493" y="2071316"/>
            <a:ext cx="6713552" cy="4119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Data cleaning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Correlation Insights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Visualization Findings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descr="A screenshot of a graph&#10;&#10;AI-generated content may be incorrect.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12312" r="2065" t="0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630936" y="457200"/>
            <a:ext cx="4343400" cy="1929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Box Plot Insight:</a:t>
            </a:r>
            <a:br>
              <a:rPr lang="en-US"/>
            </a:br>
            <a:endParaRPr/>
          </a:p>
        </p:txBody>
      </p:sp>
      <p:sp>
        <p:nvSpPr>
          <p:cNvPr id="165" name="Google Shape;165;p7"/>
          <p:cNvSpPr/>
          <p:nvPr/>
        </p:nvSpPr>
        <p:spPr>
          <a:xfrm rot="5400000">
            <a:off x="4471415" y="1412748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mputer screen shot of a code&#10;&#10;AI-generated content may be incorrect." id="166" name="Google Shape;16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488405"/>
            <a:ext cx="6007100" cy="1866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green squares&#10;&#10;AI-generated content may be incorrect.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7268" y="2386584"/>
            <a:ext cx="5468112" cy="3636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blue rectangular objects&#10;&#10;AI-generated content may be incorrect." id="168" name="Google Shape;1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354808"/>
            <a:ext cx="6096000" cy="3738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lay"/>
              <a:buNone/>
            </a:pPr>
            <a:r>
              <a:rPr b="1" lang="en-US" sz="8000"/>
              <a:t> Model Building</a:t>
            </a:r>
            <a:br>
              <a:rPr b="1" lang="en-US" sz="8000"/>
            </a:br>
            <a:endParaRPr sz="8000"/>
          </a:p>
        </p:txBody>
      </p:sp>
      <p:cxnSp>
        <p:nvCxnSpPr>
          <p:cNvPr id="175" name="Google Shape;175;p8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176" name="Google Shape;176;p8"/>
          <p:cNvGrpSpPr/>
          <p:nvPr/>
        </p:nvGrpSpPr>
        <p:grpSpPr>
          <a:xfrm>
            <a:off x="5108535" y="1071482"/>
            <a:ext cx="6245265" cy="5587982"/>
            <a:chOff x="0" y="682"/>
            <a:chExt cx="6245265" cy="5587982"/>
          </a:xfrm>
        </p:grpSpPr>
        <p:sp>
          <p:nvSpPr>
            <p:cNvPr id="177" name="Google Shape;177;p8"/>
            <p:cNvSpPr/>
            <p:nvPr/>
          </p:nvSpPr>
          <p:spPr>
            <a:xfrm>
              <a:off x="0" y="682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482961" y="359909"/>
              <a:ext cx="878111" cy="87811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 (X) Variables: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distance_to_solar_noon, temperature, wind_direction, wind_speed, sky_cover, visibility, humidity, average_wind_speed, average_pressure.</a:t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0" y="1996390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482961" y="2355617"/>
              <a:ext cx="878111" cy="87811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Target (Y) Variable: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power_generated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0" y="3992098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482961" y="4351325"/>
              <a:ext cx="878111" cy="87811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Models Used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Linear Regression, Ridge Regression, Lasso Regression, Random Forest Regressor, XGBoost Regressor.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en-US" sz="3200"/>
              <a:t>Model Evaluation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5" name="Google Shape;195;p9"/>
          <p:cNvSpPr/>
          <p:nvPr/>
        </p:nvSpPr>
        <p:spPr>
          <a:xfrm rot="5400000">
            <a:off x="3566159" y="1225296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1079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tried different models — Linear, Lasso, Ridge, Decision Tree, Random Forest, and XGBoost. Tuned Random Forest achieved the best performance (R² = 0.917) and was selected as the final model.</a:t>
            </a:r>
            <a:endParaRPr/>
          </a:p>
        </p:txBody>
      </p:sp>
      <p:pic>
        <p:nvPicPr>
          <p:cNvPr descr="A white background with black and red text&#10;&#10;AI-generated content may be incorrect." id="197" name="Google Shape;19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2469153"/>
            <a:ext cx="10917936" cy="3602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>
            <p:ph type="title"/>
          </p:nvPr>
        </p:nvSpPr>
        <p:spPr>
          <a:xfrm>
            <a:off x="630936" y="640823"/>
            <a:ext cx="3419856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Play"/>
              <a:buNone/>
            </a:pPr>
            <a:r>
              <a:rPr b="1" lang="en-US" sz="4600"/>
              <a:t>Deployment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 flipH="1">
            <a:off x="4267200" y="630936"/>
            <a:ext cx="18288" cy="5590381"/>
          </a:xfrm>
          <a:custGeom>
            <a:rect b="b" l="l" r="r" t="t"/>
            <a:pathLst>
              <a:path extrusionOk="0" fill="none" h="5590381" w="18288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extrusionOk="0" h="5590381" w="18288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0" title="Screenshot 2026-01-02 010012.png"/>
          <p:cNvPicPr preferRelativeResize="0"/>
          <p:nvPr/>
        </p:nvPicPr>
        <p:blipFill rotWithShape="1">
          <a:blip r:embed="rId3">
            <a:alphaModFix/>
          </a:blip>
          <a:srcRect b="0" l="-930" r="929" t="0"/>
          <a:stretch/>
        </p:blipFill>
        <p:spPr>
          <a:xfrm>
            <a:off x="4420250" y="452675"/>
            <a:ext cx="7554124" cy="592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/>
          <p:nvPr>
            <p:ph idx="1" type="body"/>
          </p:nvPr>
        </p:nvSpPr>
        <p:spPr>
          <a:xfrm>
            <a:off x="4654296" y="5436158"/>
            <a:ext cx="6894576" cy="7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1" title="Screenshot 2026-01-02 010037.png"/>
          <p:cNvPicPr preferRelativeResize="0"/>
          <p:nvPr/>
        </p:nvPicPr>
        <p:blipFill rotWithShape="1">
          <a:blip r:embed="rId3">
            <a:alphaModFix/>
          </a:blip>
          <a:srcRect b="9689" l="0" r="0" t="10432"/>
          <a:stretch/>
        </p:blipFill>
        <p:spPr>
          <a:xfrm>
            <a:off x="149900" y="-557400"/>
            <a:ext cx="11917176" cy="80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>
            <p:ph type="title"/>
          </p:nvPr>
        </p:nvSpPr>
        <p:spPr>
          <a:xfrm>
            <a:off x="6094105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Play"/>
              <a:buNone/>
            </a:pPr>
            <a:br>
              <a:rPr lang="en-US" sz="2300">
                <a:solidFill>
                  <a:schemeClr val="dk2"/>
                </a:solidFill>
              </a:rPr>
            </a:br>
            <a:r>
              <a:rPr b="1" lang="en-US" sz="2300">
                <a:solidFill>
                  <a:schemeClr val="dk2"/>
                </a:solidFill>
              </a:rPr>
              <a:t>Conclusion</a:t>
            </a:r>
            <a:br>
              <a:rPr lang="en-US" sz="2300">
                <a:solidFill>
                  <a:schemeClr val="dk2"/>
                </a:solidFill>
              </a:rPr>
            </a:br>
            <a:br>
              <a:rPr lang="en-US" sz="2300">
                <a:solidFill>
                  <a:schemeClr val="dk2"/>
                </a:solidFill>
              </a:rPr>
            </a:br>
            <a:endParaRPr sz="2300">
              <a:solidFill>
                <a:schemeClr val="dk2"/>
              </a:solidFill>
            </a:endParaRPr>
          </a:p>
        </p:txBody>
      </p:sp>
      <p:pic>
        <p:nvPicPr>
          <p:cNvPr descr="Sun"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951" y="1793846"/>
            <a:ext cx="3620021" cy="362002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6090574" y="2421682"/>
            <a:ext cx="4977578" cy="363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US" sz="1800">
                <a:solidFill>
                  <a:schemeClr val="dk2"/>
                </a:solidFill>
              </a:rPr>
              <a:t>The </a:t>
            </a:r>
            <a:r>
              <a:rPr b="1" lang="en-US" sz="1800">
                <a:solidFill>
                  <a:schemeClr val="dk2"/>
                </a:solidFill>
              </a:rPr>
              <a:t>Random Forest model</a:t>
            </a:r>
            <a:r>
              <a:rPr lang="en-US" sz="1800">
                <a:solidFill>
                  <a:schemeClr val="dk2"/>
                </a:solidFill>
              </a:rPr>
              <a:t> achieved an </a:t>
            </a:r>
            <a:r>
              <a:rPr b="1" lang="en-US" sz="1800">
                <a:solidFill>
                  <a:schemeClr val="dk2"/>
                </a:solidFill>
              </a:rPr>
              <a:t>R² score of 0.917</a:t>
            </a:r>
            <a:r>
              <a:rPr lang="en-US" sz="1800">
                <a:solidFill>
                  <a:schemeClr val="dk2"/>
                </a:solidFill>
              </a:rPr>
              <a:t>, accurately predicting solar power generation under all weather conditions. This supports efficient energy planning and grid management.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21" name="Google Shape;221;p12"/>
          <p:cNvGrpSpPr/>
          <p:nvPr/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</p:grpSpPr>
        <p:sp>
          <p:nvSpPr>
            <p:cNvPr id="222" name="Google Shape;222;p12"/>
            <p:cNvSpPr/>
            <p:nvPr/>
          </p:nvSpPr>
          <p:spPr>
            <a:xfrm>
              <a:off x="6096001" y="52996"/>
              <a:ext cx="6093361" cy="6805003"/>
            </a:xfrm>
            <a:custGeom>
              <a:rect b="b" l="l" r="r" t="t"/>
              <a:pathLst>
                <a:path extrusionOk="0" h="6578438" w="5890489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6095999" y="52997"/>
              <a:ext cx="6093363" cy="6805004"/>
            </a:xfrm>
            <a:custGeom>
              <a:rect b="b" l="l" r="r" t="t"/>
              <a:pathLst>
                <a:path extrusionOk="0" h="6578439" w="5890491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6096000" y="52997"/>
              <a:ext cx="6093362" cy="6805004"/>
            </a:xfrm>
            <a:custGeom>
              <a:rect b="b" l="l" r="r" t="t"/>
              <a:pathLst>
                <a:path extrusionOk="0" h="6578439" w="5890490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>
            <p:ph type="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sz="4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Handshake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33" name="Google Shape;233;p13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2025-11-10T08:57:43Z</dcterms:created>
  <dc:creator>21X41A0468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0x010100CA599C8A6091EC418CE46DFD84ABE683</vt:lpwstr>
  </property>
</Properties>
</file>